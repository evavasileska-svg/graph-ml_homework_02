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2e4d63a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2e4d63a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315e9cdc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315e9cdc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315e9cdc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315e9cd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315e9cdc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315e9cdc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315e9cdc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315e9cdc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315e9cdc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315e9cdc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315e9cdc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315e9cdc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315e9cdc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315e9cdc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315e9cdc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315e9cdc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315e9cdc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315e9cdc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vrtec-zalec_3-nadstropje-scaled.jpg"/>
          <p:cNvPicPr preferRelativeResize="0"/>
          <p:nvPr/>
        </p:nvPicPr>
        <p:blipFill rotWithShape="1">
          <a:blip r:embed="rId3">
            <a:alphaModFix/>
          </a:blip>
          <a:srcRect b="24549" l="14922" r="15153" t="19923"/>
          <a:stretch/>
        </p:blipFill>
        <p:spPr>
          <a:xfrm flipH="1" rot="10800000">
            <a:off x="2352013" y="1652351"/>
            <a:ext cx="4280525" cy="268697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432025" y="4280475"/>
            <a:ext cx="412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ŽALEC KINDERGARTEN</a:t>
            </a:r>
            <a:b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By Efekt architecture</a:t>
            </a:r>
            <a:b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2024,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Žalec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,Slovenija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432025" y="503500"/>
            <a:ext cx="41205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</a:rPr>
              <a:t>IDEA: A graph-based comparison of spatial connectivity and natural light in a kindergarten layout. Closeness and betweenness centrality are overlaid with a daylight factor analysis from Honeybee. The aim is to test whether the most most spatially integrated (closeness centrality) or most-traversed (betweenness centrality)  are also the best-lit, and to surface mismatches as design feedback. </a:t>
            </a:r>
            <a:endParaRPr sz="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pic>
        <p:nvPicPr>
          <p:cNvPr id="62" name="Google Shape;62;p14" title="analysis 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850" y="580275"/>
            <a:ext cx="4144850" cy="31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657575" y="3299825"/>
            <a:ext cx="36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The </a:t>
            </a:r>
            <a:r>
              <a:rPr lang="en" sz="1000">
                <a:solidFill>
                  <a:srgbClr val="FFFFFF"/>
                </a:solidFill>
              </a:rPr>
              <a:t>analysis</a:t>
            </a:r>
            <a:r>
              <a:rPr lang="en" sz="1000">
                <a:solidFill>
                  <a:srgbClr val="FFFFFF"/>
                </a:solidFill>
              </a:rPr>
              <a:t> graph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657575" y="3299825"/>
            <a:ext cx="36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Overlay plan+grid, grid size 100 x 100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70" name="Google Shape;70;p15" title="the plan and the grid, gid size 100x100.png"/>
          <p:cNvPicPr preferRelativeResize="0"/>
          <p:nvPr/>
        </p:nvPicPr>
        <p:blipFill rotWithShape="1">
          <a:blip r:embed="rId3">
            <a:alphaModFix/>
          </a:blip>
          <a:srcRect b="17614" l="0" r="0" t="0"/>
          <a:stretch/>
        </p:blipFill>
        <p:spPr>
          <a:xfrm>
            <a:off x="2414850" y="580276"/>
            <a:ext cx="4144850" cy="256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2657575" y="3299825"/>
            <a:ext cx="36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Shortest path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79" name="Google Shape;79;p16" title="shortest path.png"/>
          <p:cNvPicPr preferRelativeResize="0"/>
          <p:nvPr/>
        </p:nvPicPr>
        <p:blipFill rotWithShape="1">
          <a:blip r:embed="rId3">
            <a:alphaModFix/>
          </a:blip>
          <a:srcRect b="17770" l="0" r="0" t="0"/>
          <a:stretch/>
        </p:blipFill>
        <p:spPr>
          <a:xfrm>
            <a:off x="2414850" y="580275"/>
            <a:ext cx="4144850" cy="255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657575" y="3299825"/>
            <a:ext cx="36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Overlay community detection and building layout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90" name="Google Shape;90;p17" title="comunity detection.png"/>
          <p:cNvPicPr preferRelativeResize="0"/>
          <p:nvPr/>
        </p:nvPicPr>
        <p:blipFill rotWithShape="1">
          <a:blip r:embed="rId3">
            <a:alphaModFix/>
          </a:blip>
          <a:srcRect b="15269" l="0" r="0" t="0"/>
          <a:stretch/>
        </p:blipFill>
        <p:spPr>
          <a:xfrm>
            <a:off x="2414850" y="580275"/>
            <a:ext cx="4144850" cy="26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pje-scaled.png"/>
          <p:cNvPicPr preferRelativeResize="0"/>
          <p:nvPr/>
        </p:nvPicPr>
        <p:blipFill rotWithShape="1">
          <a:blip r:embed="rId4">
            <a:alphaModFix/>
          </a:blip>
          <a:srcRect b="0" l="0" r="0" t="24426"/>
          <a:stretch/>
        </p:blipFill>
        <p:spPr>
          <a:xfrm flipH="1" rot="10800000">
            <a:off x="1678050" y="148380"/>
            <a:ext cx="5618452" cy="300207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2693200" y="3638525"/>
            <a:ext cx="3659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Curtain features of the layout were missed when running the community detection, like the inner service rooms of the classrooms and the </a:t>
            </a:r>
            <a:r>
              <a:rPr lang="en" sz="800">
                <a:solidFill>
                  <a:srgbClr val="FFFFFF"/>
                </a:solidFill>
              </a:rPr>
              <a:t>communal</a:t>
            </a:r>
            <a:r>
              <a:rPr lang="en" sz="800">
                <a:solidFill>
                  <a:srgbClr val="FFFFFF"/>
                </a:solidFill>
              </a:rPr>
              <a:t> space/hallway linking the classrooms</a:t>
            </a:r>
            <a:endParaRPr sz="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2657575" y="3299825"/>
            <a:ext cx="36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Adjacency</a:t>
            </a:r>
            <a:r>
              <a:rPr lang="en" sz="1000">
                <a:solidFill>
                  <a:srgbClr val="FFFFFF"/>
                </a:solidFill>
              </a:rPr>
              <a:t> graph from derived from the community detection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101" name="Google Shape;101;p18" title="graph from the comunity detection.png"/>
          <p:cNvPicPr preferRelativeResize="0"/>
          <p:nvPr/>
        </p:nvPicPr>
        <p:blipFill rotWithShape="1">
          <a:blip r:embed="rId3">
            <a:alphaModFix/>
          </a:blip>
          <a:srcRect b="17478" l="0" r="0" t="0"/>
          <a:stretch/>
        </p:blipFill>
        <p:spPr>
          <a:xfrm>
            <a:off x="2414850" y="580275"/>
            <a:ext cx="4144850" cy="256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2657575" y="3299825"/>
            <a:ext cx="36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Degree centrality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110" name="Google Shape;110;p19" title="degree centrality.png"/>
          <p:cNvPicPr preferRelativeResize="0"/>
          <p:nvPr/>
        </p:nvPicPr>
        <p:blipFill rotWithShape="1">
          <a:blip r:embed="rId3">
            <a:alphaModFix/>
          </a:blip>
          <a:srcRect b="17321" l="0" r="0" t="0"/>
          <a:stretch/>
        </p:blipFill>
        <p:spPr>
          <a:xfrm>
            <a:off x="2414850" y="580275"/>
            <a:ext cx="4144850" cy="25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2693200" y="3638525"/>
            <a:ext cx="36594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The entry </a:t>
            </a:r>
            <a:r>
              <a:rPr lang="en" sz="800">
                <a:solidFill>
                  <a:srgbClr val="FFFFFF"/>
                </a:solidFill>
              </a:rPr>
              <a:t>lobby</a:t>
            </a:r>
            <a:r>
              <a:rPr lang="en" sz="800">
                <a:solidFill>
                  <a:srgbClr val="FFFFFF"/>
                </a:solidFill>
              </a:rPr>
              <a:t> is </a:t>
            </a:r>
            <a:r>
              <a:rPr lang="en" sz="800">
                <a:solidFill>
                  <a:srgbClr val="FFFFFF"/>
                </a:solidFill>
              </a:rPr>
              <a:t>easier</a:t>
            </a:r>
            <a:r>
              <a:rPr lang="en" sz="800">
                <a:solidFill>
                  <a:srgbClr val="FFFFFF"/>
                </a:solidFill>
              </a:rPr>
              <a:t> to access - good design</a:t>
            </a:r>
            <a:br>
              <a:rPr lang="en" sz="800">
                <a:solidFill>
                  <a:srgbClr val="FFFFFF"/>
                </a:solidFill>
              </a:rPr>
            </a:br>
            <a:r>
              <a:rPr lang="en" sz="800">
                <a:solidFill>
                  <a:srgbClr val="FFFFFF"/>
                </a:solidFill>
              </a:rPr>
              <a:t>Staff offices are harder to access (all the classrooms are having the same level of connection to the entrance </a:t>
            </a:r>
            <a:r>
              <a:rPr lang="en" sz="800">
                <a:solidFill>
                  <a:srgbClr val="FFFFFF"/>
                </a:solidFill>
              </a:rPr>
              <a:t>lobby</a:t>
            </a:r>
            <a:r>
              <a:rPr lang="en" sz="800">
                <a:solidFill>
                  <a:srgbClr val="FFFFFF"/>
                </a:solidFill>
              </a:rPr>
              <a:t> since they are only one edge away but because the community detection is </a:t>
            </a:r>
            <a:r>
              <a:rPr lang="en" sz="800">
                <a:solidFill>
                  <a:srgbClr val="FFFFFF"/>
                </a:solidFill>
              </a:rPr>
              <a:t>misleading</a:t>
            </a:r>
            <a:r>
              <a:rPr lang="en" sz="800">
                <a:solidFill>
                  <a:srgbClr val="FFFFFF"/>
                </a:solidFill>
              </a:rPr>
              <a:t> the heatmap is presenting the classrooms on the right as harder to access)</a:t>
            </a:r>
            <a:endParaRPr sz="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2657575" y="3299825"/>
            <a:ext cx="36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Closeness</a:t>
            </a:r>
            <a:r>
              <a:rPr lang="en" sz="1000">
                <a:solidFill>
                  <a:srgbClr val="FFFFFF"/>
                </a:solidFill>
              </a:rPr>
              <a:t> centrality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120" name="Google Shape;120;p20" title="clossness centrality graph.png"/>
          <p:cNvPicPr preferRelativeResize="0"/>
          <p:nvPr/>
        </p:nvPicPr>
        <p:blipFill rotWithShape="1">
          <a:blip r:embed="rId3">
            <a:alphaModFix/>
          </a:blip>
          <a:srcRect b="17952" l="0" r="0" t="0"/>
          <a:stretch/>
        </p:blipFill>
        <p:spPr>
          <a:xfrm>
            <a:off x="2414850" y="580273"/>
            <a:ext cx="4144850" cy="255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2693200" y="3638525"/>
            <a:ext cx="36594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The </a:t>
            </a:r>
            <a:r>
              <a:rPr lang="en" sz="800">
                <a:solidFill>
                  <a:srgbClr val="FFFFFF"/>
                </a:solidFill>
              </a:rPr>
              <a:t>easiest</a:t>
            </a:r>
            <a:r>
              <a:rPr lang="en" sz="800">
                <a:solidFill>
                  <a:srgbClr val="FFFFFF"/>
                </a:solidFill>
              </a:rPr>
              <a:t> place to access, the best integrated place is the </a:t>
            </a:r>
            <a:r>
              <a:rPr lang="en" sz="800">
                <a:solidFill>
                  <a:srgbClr val="FFFFFF"/>
                </a:solidFill>
              </a:rPr>
              <a:t>center</a:t>
            </a:r>
            <a:r>
              <a:rPr lang="en" sz="800">
                <a:solidFill>
                  <a:srgbClr val="FFFFFF"/>
                </a:solidFill>
              </a:rPr>
              <a:t> of the hallway, when the community space gets into a hallway, on its  narrower point - Not the best design idea. The most isolated are the offices and the kitchen - logical spatial distribution</a:t>
            </a:r>
            <a:endParaRPr sz="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2657575" y="3299825"/>
            <a:ext cx="36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Betweenness</a:t>
            </a:r>
            <a:r>
              <a:rPr lang="en" sz="1000">
                <a:solidFill>
                  <a:srgbClr val="FFFFFF"/>
                </a:solidFill>
              </a:rPr>
              <a:t> centrality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130" name="Google Shape;130;p21" title="betweenness centrality graph.png"/>
          <p:cNvPicPr preferRelativeResize="0"/>
          <p:nvPr/>
        </p:nvPicPr>
        <p:blipFill rotWithShape="1">
          <a:blip r:embed="rId3">
            <a:alphaModFix/>
          </a:blip>
          <a:srcRect b="18267" l="0" r="0" t="0"/>
          <a:stretch/>
        </p:blipFill>
        <p:spPr>
          <a:xfrm>
            <a:off x="2414850" y="580274"/>
            <a:ext cx="4144850" cy="254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2693200" y="3638525"/>
            <a:ext cx="3659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The most traveled path is the centar hallway - typical for this types of layouts but it can mean congestion since the hallway is in its narrower point</a:t>
            </a:r>
            <a:endParaRPr sz="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2657575" y="3299825"/>
            <a:ext cx="36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Daylight factor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2693200" y="3638525"/>
            <a:ext cx="3659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The classrooms are </a:t>
            </a:r>
            <a:r>
              <a:rPr lang="en" sz="800">
                <a:solidFill>
                  <a:srgbClr val="FFFFFF"/>
                </a:solidFill>
              </a:rPr>
              <a:t>receiving</a:t>
            </a:r>
            <a:r>
              <a:rPr lang="en" sz="800">
                <a:solidFill>
                  <a:srgbClr val="FFFFFF"/>
                </a:solidFill>
              </a:rPr>
              <a:t> a lot of </a:t>
            </a:r>
            <a:r>
              <a:rPr lang="en" sz="800">
                <a:solidFill>
                  <a:srgbClr val="FFFFFF"/>
                </a:solidFill>
              </a:rPr>
              <a:t>daylight</a:t>
            </a:r>
            <a:r>
              <a:rPr lang="en" sz="800">
                <a:solidFill>
                  <a:srgbClr val="FFFFFF"/>
                </a:solidFill>
              </a:rPr>
              <a:t> and the </a:t>
            </a:r>
            <a:r>
              <a:rPr lang="en" sz="800">
                <a:solidFill>
                  <a:srgbClr val="FFFFFF"/>
                </a:solidFill>
              </a:rPr>
              <a:t>entrance</a:t>
            </a:r>
            <a:r>
              <a:rPr lang="en" sz="800">
                <a:solidFill>
                  <a:srgbClr val="FFFFFF"/>
                </a:solidFill>
              </a:rPr>
              <a:t> </a:t>
            </a:r>
            <a:r>
              <a:rPr lang="en" sz="800">
                <a:solidFill>
                  <a:srgbClr val="FFFFFF"/>
                </a:solidFill>
              </a:rPr>
              <a:t>lobby</a:t>
            </a:r>
            <a:r>
              <a:rPr lang="en" sz="800">
                <a:solidFill>
                  <a:srgbClr val="FFFFFF"/>
                </a:solidFill>
              </a:rPr>
              <a:t> as well, but the most </a:t>
            </a:r>
            <a:r>
              <a:rPr lang="en" sz="800">
                <a:solidFill>
                  <a:srgbClr val="FFFFFF"/>
                </a:solidFill>
              </a:rPr>
              <a:t>integrated</a:t>
            </a:r>
            <a:r>
              <a:rPr lang="en" sz="800">
                <a:solidFill>
                  <a:srgbClr val="FFFFFF"/>
                </a:solidFill>
              </a:rPr>
              <a:t> space of the hallway has no direct </a:t>
            </a:r>
            <a:r>
              <a:rPr lang="en" sz="800">
                <a:solidFill>
                  <a:srgbClr val="FFFFFF"/>
                </a:solidFill>
              </a:rPr>
              <a:t>sunlight</a:t>
            </a:r>
            <a:r>
              <a:rPr lang="en" sz="800">
                <a:solidFill>
                  <a:srgbClr val="FFFFFF"/>
                </a:solidFill>
              </a:rPr>
              <a:t> </a:t>
            </a:r>
            <a:endParaRPr sz="800">
              <a:solidFill>
                <a:srgbClr val="FFFFFF"/>
              </a:solidFill>
            </a:endParaRPr>
          </a:p>
        </p:txBody>
      </p:sp>
      <p:pic>
        <p:nvPicPr>
          <p:cNvPr id="139" name="Google Shape;139;p22" title="Screenshot 2026-05-16 232015.png"/>
          <p:cNvPicPr preferRelativeResize="0"/>
          <p:nvPr/>
        </p:nvPicPr>
        <p:blipFill rotWithShape="1">
          <a:blip r:embed="rId3">
            <a:alphaModFix/>
          </a:blip>
          <a:srcRect b="0" l="0" r="10682" t="0"/>
          <a:stretch/>
        </p:blipFill>
        <p:spPr>
          <a:xfrm flipH="1" rot="10800000">
            <a:off x="2383350" y="1138049"/>
            <a:ext cx="3966648" cy="216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 title="bukci.png"/>
          <p:cNvPicPr preferRelativeResize="0"/>
          <p:nvPr/>
        </p:nvPicPr>
        <p:blipFill rotWithShape="1">
          <a:blip r:embed="rId4">
            <a:alphaModFix/>
          </a:blip>
          <a:srcRect b="0" l="89941" r="0" t="0"/>
          <a:stretch/>
        </p:blipFill>
        <p:spPr>
          <a:xfrm>
            <a:off x="6472650" y="1087400"/>
            <a:ext cx="412426" cy="203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